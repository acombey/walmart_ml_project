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64" r:id="rId4"/>
    <p:sldId id="265" r:id="rId5"/>
    <p:sldId id="266" r:id="rId6"/>
    <p:sldId id="267" r:id="rId7"/>
    <p:sldId id="268" r:id="rId8"/>
    <p:sldId id="269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3"/>
    <p:restoredTop sz="93767"/>
  </p:normalViewPr>
  <p:slideViewPr>
    <p:cSldViewPr snapToGrid="0">
      <p:cViewPr varScale="1">
        <p:scale>
          <a:sx n="90" d="100"/>
          <a:sy n="90" d="100"/>
        </p:scale>
        <p:origin x="21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12599-77D3-484E-8854-8CAC0050D369}" type="datetimeFigureOut">
              <a:rPr lang="fr-US" smtClean="0"/>
              <a:t>9/15/25</a:t>
            </a:fld>
            <a:endParaRPr lang="fr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C6122-ECDB-7743-9CEC-4686E7E8D091}" type="slidenum">
              <a:rPr lang="fr-US" smtClean="0"/>
              <a:t>‹N°›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5148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“Chaque magasin a son propre niveau de ventes, ce qui crée un fort signal mais aussi un piège classique d’</a:t>
            </a:r>
            <a:r>
              <a:rPr lang="fr-FR" dirty="0" err="1"/>
              <a:t>overfitting</a:t>
            </a:r>
            <a:r>
              <a:rPr lang="fr-FR" dirty="0"/>
              <a:t>.”</a:t>
            </a:r>
          </a:p>
          <a:p>
            <a:endParaRPr lang="fr-US" dirty="0"/>
          </a:p>
          <a:p>
            <a:r>
              <a:rPr lang="fr-FR" dirty="0"/>
              <a:t>“Le prétraitement a été pensé pour préserver l’information métier sans introduire de biais artificiel.”</a:t>
            </a:r>
          </a:p>
          <a:p>
            <a:pPr lvl="2"/>
            <a:r>
              <a:rPr lang="fr-FR" dirty="0"/>
              <a:t>ex des </a:t>
            </a:r>
            <a:r>
              <a:rPr lang="fr-FR" dirty="0" err="1"/>
              <a:t>outliers</a:t>
            </a:r>
            <a:r>
              <a:rPr lang="fr-FR" dirty="0"/>
              <a:t> sur store 12, ne sont pas </a:t>
            </a:r>
            <a:r>
              <a:rPr lang="fr-FR" dirty="0" err="1"/>
              <a:t>abberants</a:t>
            </a:r>
            <a:r>
              <a:rPr lang="fr-FR" dirty="0"/>
              <a:t> mais </a:t>
            </a:r>
            <a:r>
              <a:rPr lang="fr-FR" dirty="0" err="1"/>
              <a:t>refletent</a:t>
            </a:r>
            <a:r>
              <a:rPr lang="fr-FR" dirty="0"/>
              <a:t> un taux de </a:t>
            </a:r>
            <a:r>
              <a:rPr lang="fr-FR" dirty="0" err="1"/>
              <a:t>chomage</a:t>
            </a:r>
            <a:r>
              <a:rPr lang="fr-FR" dirty="0"/>
              <a:t> local important</a:t>
            </a:r>
          </a:p>
          <a:p>
            <a:endParaRPr lang="fr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6122-ECDB-7743-9CEC-4686E7E8D091}" type="slidenum">
              <a:rPr lang="fr-US" smtClean="0"/>
              <a:t>2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1448463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periodes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vacances (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boxplot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2) est plus performant (puisque la médiane est plus haute).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est aussi plus stable (dispersion plus faible), ce qui peut être un signe de meilleure régularité.</a:t>
            </a:r>
          </a:p>
          <a:p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**Le premier groupe, même s’il peut contenir des valeurs très élevées, est moins prévisible, cela peut amener des ruptures ou a l'inverse de la casse </a:t>
            </a: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liee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de trop fortes commandes.**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6122-ECDB-7743-9CEC-4686E7E8D091}" type="slidenum">
              <a:rPr lang="fr-US" smtClean="0"/>
              <a:t>3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4154057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“Le modèle expliquait surtout </a:t>
            </a:r>
            <a:r>
              <a:rPr lang="fr-F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où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 situe le magasin, pas uniquement le contexte économique.”</a:t>
            </a:r>
            <a:endParaRPr lang="fr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C6122-ECDB-7743-9CEC-4686E7E8D091}" type="slidenum">
              <a:rPr lang="fr-US" smtClean="0"/>
              <a:t>5</a:t>
            </a:fld>
            <a:endParaRPr lang="fr-US"/>
          </a:p>
        </p:txBody>
      </p:sp>
    </p:spTree>
    <p:extLst>
      <p:ext uri="{BB962C8B-B14F-4D97-AF65-F5344CB8AC3E}">
        <p14:creationId xmlns:p14="http://schemas.microsoft.com/office/powerpoint/2010/main" val="65324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US"/>
          </a:p>
        </p:txBody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US"/>
          </a:p>
        </p:txBody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US"/>
          </a:p>
        </p:txBody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fr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9/15/25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764669-1223-AF09-C3B0-8DB077EA1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US" dirty="0"/>
              <a:t>Prediction des ventes chez walmart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34F78F-D5A6-97CC-7AE0-AAFAA0D155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US" dirty="0"/>
              <a:t>Arnold COMBEY – Bootcamp Jedha</a:t>
            </a:r>
          </a:p>
        </p:txBody>
      </p:sp>
    </p:spTree>
    <p:extLst>
      <p:ext uri="{BB962C8B-B14F-4D97-AF65-F5344CB8AC3E}">
        <p14:creationId xmlns:p14="http://schemas.microsoft.com/office/powerpoint/2010/main" val="1890475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A64004-9B28-5085-9D47-67A97270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Objectif et </a:t>
            </a:r>
            <a:r>
              <a:rPr lang="fr-US" dirty="0"/>
              <a:t>dataset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869E2B-C700-87AA-8FDD-952F6A70ED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558463" cy="3311189"/>
          </a:xfrm>
        </p:spPr>
        <p:txBody>
          <a:bodyPr>
            <a:normAutofit fontScale="77500" lnSpcReduction="20000"/>
          </a:bodyPr>
          <a:lstStyle/>
          <a:p>
            <a:r>
              <a:rPr lang="fr-FR" b="1" dirty="0"/>
              <a:t>Objectifs</a:t>
            </a:r>
            <a:r>
              <a:rPr lang="fr-FR" dirty="0"/>
              <a:t> : Prédire les ventes hebdomadaires par magasin, Identifier facteurs influençant les ventes</a:t>
            </a:r>
          </a:p>
          <a:p>
            <a:r>
              <a:rPr lang="fr-FR" dirty="0"/>
              <a:t>Données Walmart : ventes hebdomadaires par magasin - 136 lignes et 8 variables</a:t>
            </a:r>
          </a:p>
          <a:p>
            <a:r>
              <a:rPr lang="fr-FR" dirty="0"/>
              <a:t>Variables :</a:t>
            </a:r>
          </a:p>
          <a:p>
            <a:pPr lvl="1"/>
            <a:r>
              <a:rPr lang="fr-FR" dirty="0"/>
              <a:t>Variables externes quantitatives: Température, prix du carburant, CPI, chômage</a:t>
            </a:r>
          </a:p>
          <a:p>
            <a:pPr lvl="1"/>
            <a:r>
              <a:rPr lang="fr-FR" dirty="0"/>
              <a:t>Variables temporelles (date, vacances)</a:t>
            </a:r>
          </a:p>
          <a:p>
            <a:pPr lvl="1"/>
            <a:r>
              <a:rPr lang="fr-FR" dirty="0"/>
              <a:t>Identifiant magasin (Store)</a:t>
            </a:r>
          </a:p>
          <a:p>
            <a:r>
              <a:rPr lang="fr-FR" b="1" dirty="0"/>
              <a:t>Prétraitement</a:t>
            </a:r>
            <a:r>
              <a:rPr lang="fr-FR" dirty="0"/>
              <a:t> : suppression NaN, imputation médiane, stratification sur ‘store’</a:t>
            </a:r>
          </a:p>
          <a:p>
            <a:r>
              <a:rPr lang="fr-FR" b="1" dirty="0"/>
              <a:t>Problème ML : </a:t>
            </a:r>
            <a:r>
              <a:rPr lang="fr-FR" dirty="0"/>
              <a:t>Risque naturel d’</a:t>
            </a:r>
            <a:r>
              <a:rPr lang="fr-FR" dirty="0" err="1"/>
              <a:t>overfitting</a:t>
            </a:r>
            <a:r>
              <a:rPr lang="fr-FR" dirty="0"/>
              <a:t> sur ’’Store’’</a:t>
            </a:r>
          </a:p>
          <a:p>
            <a:r>
              <a:rPr lang="fr-FR" dirty="0"/>
              <a:t>Comment généraliser un modèle pour que la prédiction se base sur des données externes plutôt que sur la performance moyenne par magasin?</a:t>
            </a:r>
          </a:p>
          <a:p>
            <a:endParaRPr lang="fr-US" dirty="0"/>
          </a:p>
        </p:txBody>
      </p:sp>
    </p:spTree>
    <p:extLst>
      <p:ext uri="{BB962C8B-B14F-4D97-AF65-F5344CB8AC3E}">
        <p14:creationId xmlns:p14="http://schemas.microsoft.com/office/powerpoint/2010/main" val="283332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59BEE4-0153-24DF-3CD7-8F721DC3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US" dirty="0"/>
              <a:t>Exploration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0762DB-3DF3-8DC7-BFBF-36EE733DF5E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b="1" dirty="0"/>
              <a:t>Graphiques forts</a:t>
            </a:r>
            <a:endParaRPr lang="fr-FR" dirty="0"/>
          </a:p>
          <a:p>
            <a:r>
              <a:rPr lang="fr-FR" dirty="0"/>
              <a:t>Saisonnalité mensuelle</a:t>
            </a:r>
          </a:p>
          <a:p>
            <a:r>
              <a:rPr lang="fr-FR" dirty="0"/>
              <a:t>Impact positif des vacances</a:t>
            </a:r>
          </a:p>
          <a:p>
            <a:r>
              <a:rPr lang="fr-FR" dirty="0"/>
              <a:t>Effet négatif (faible) de la température</a:t>
            </a:r>
          </a:p>
          <a:p>
            <a:r>
              <a:rPr lang="fr-FR" dirty="0"/>
              <a:t>Faible impact du carburant</a:t>
            </a:r>
          </a:p>
          <a:p>
            <a:r>
              <a:rPr lang="fr-FR" b="1" dirty="0"/>
              <a:t>Conclusion</a:t>
            </a:r>
            <a:endParaRPr lang="fr-FR" dirty="0"/>
          </a:p>
          <a:p>
            <a:r>
              <a:rPr lang="fr-FR" dirty="0"/>
              <a:t>Relations </a:t>
            </a:r>
            <a:r>
              <a:rPr lang="fr-FR" b="1" dirty="0"/>
              <a:t>majoritairement linéaires</a:t>
            </a:r>
            <a:endParaRPr lang="fr-FR" dirty="0"/>
          </a:p>
          <a:p>
            <a:r>
              <a:rPr lang="fr-FR" dirty="0"/>
              <a:t>Pas de non-linéarités complexes visibles</a:t>
            </a:r>
          </a:p>
          <a:p>
            <a:endParaRPr lang="fr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F24D010-02D4-13FF-B762-6AC00377D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8085"/>
            <a:ext cx="6872288" cy="37465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6865468-830F-8DB8-5A38-C29D9291F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069" y="1628813"/>
            <a:ext cx="4381500" cy="3745772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C90B5BF3-D22F-F9E1-1B89-1FA8C56B8891}"/>
              </a:ext>
            </a:extLst>
          </p:cNvPr>
          <p:cNvCxnSpPr>
            <a:cxnSpLocks/>
          </p:cNvCxnSpPr>
          <p:nvPr/>
        </p:nvCxnSpPr>
        <p:spPr>
          <a:xfrm flipV="1">
            <a:off x="2191209" y="4743096"/>
            <a:ext cx="291933" cy="28812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6764DCBB-6B1E-3C49-E1FA-CCABB39A17B8}"/>
              </a:ext>
            </a:extLst>
          </p:cNvPr>
          <p:cNvCxnSpPr>
            <a:cxnSpLocks/>
          </p:cNvCxnSpPr>
          <p:nvPr/>
        </p:nvCxnSpPr>
        <p:spPr>
          <a:xfrm>
            <a:off x="3187304" y="4880583"/>
            <a:ext cx="497679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21CA8F56-304A-B0D5-9AFF-DE19B8E7EB64}"/>
              </a:ext>
            </a:extLst>
          </p:cNvPr>
          <p:cNvCxnSpPr>
            <a:cxnSpLocks/>
          </p:cNvCxnSpPr>
          <p:nvPr/>
        </p:nvCxnSpPr>
        <p:spPr>
          <a:xfrm>
            <a:off x="1286344" y="4743096"/>
            <a:ext cx="251899" cy="28812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CD913171-51D1-64E0-F756-1BA5FE9784BD}"/>
              </a:ext>
            </a:extLst>
          </p:cNvPr>
          <p:cNvCxnSpPr>
            <a:cxnSpLocks/>
          </p:cNvCxnSpPr>
          <p:nvPr/>
        </p:nvCxnSpPr>
        <p:spPr>
          <a:xfrm>
            <a:off x="9259767" y="3098445"/>
            <a:ext cx="5088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5D4743B-39ED-B6D4-51E2-A7DAAA392FA9}"/>
              </a:ext>
            </a:extLst>
          </p:cNvPr>
          <p:cNvCxnSpPr>
            <a:cxnSpLocks/>
          </p:cNvCxnSpPr>
          <p:nvPr/>
        </p:nvCxnSpPr>
        <p:spPr>
          <a:xfrm>
            <a:off x="9259767" y="4079520"/>
            <a:ext cx="5088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5F74C0A4-8ECE-432E-BF52-7E10FD6D5C92}"/>
              </a:ext>
            </a:extLst>
          </p:cNvPr>
          <p:cNvCxnSpPr>
            <a:cxnSpLocks/>
          </p:cNvCxnSpPr>
          <p:nvPr/>
        </p:nvCxnSpPr>
        <p:spPr>
          <a:xfrm>
            <a:off x="9259766" y="3260370"/>
            <a:ext cx="508855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52FFCAE1-F756-2C9C-85C3-B16A9F1A170C}"/>
              </a:ext>
            </a:extLst>
          </p:cNvPr>
          <p:cNvCxnSpPr>
            <a:cxnSpLocks/>
          </p:cNvCxnSpPr>
          <p:nvPr/>
        </p:nvCxnSpPr>
        <p:spPr>
          <a:xfrm>
            <a:off x="4813378" y="4759401"/>
            <a:ext cx="251899" cy="28812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C1FEC1F3-AE68-0974-0A91-9DDFC3C0639B}"/>
              </a:ext>
            </a:extLst>
          </p:cNvPr>
          <p:cNvCxnSpPr>
            <a:cxnSpLocks/>
          </p:cNvCxnSpPr>
          <p:nvPr/>
        </p:nvCxnSpPr>
        <p:spPr>
          <a:xfrm flipV="1">
            <a:off x="5644214" y="4759401"/>
            <a:ext cx="291933" cy="288122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532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639607-F492-CD76-5307-2BCCDAA0D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US" dirty="0"/>
              <a:t>Importance des variables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13BD9D7-21E5-B029-79AC-A209BC40F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2424"/>
            <a:ext cx="6229350" cy="4647293"/>
          </a:xfrm>
          <a:prstGeom prst="rect">
            <a:avLst/>
          </a:prstGeom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77FA031-8996-277F-2261-BBC4EEEA57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00" y="2063396"/>
            <a:ext cx="3651007" cy="33111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Les performances du modèle sont fortement dépendantes du magasin, mais des variables macro-économiques comme le CPI, les périodes de vacances et le taux de chômage contribuent significativement à la prédiction.</a:t>
            </a:r>
            <a:endParaRPr lang="fr-US" dirty="0"/>
          </a:p>
        </p:txBody>
      </p:sp>
    </p:spTree>
    <p:extLst>
      <p:ext uri="{BB962C8B-B14F-4D97-AF65-F5344CB8AC3E}">
        <p14:creationId xmlns:p14="http://schemas.microsoft.com/office/powerpoint/2010/main" val="2675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374F9A-B092-FA18-5C22-DAEEF85EE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</a:t>
            </a:r>
            <a:r>
              <a:rPr lang="fr-US" dirty="0"/>
              <a:t>remieres Performances </a:t>
            </a:r>
            <a:br>
              <a:rPr lang="fr-US" dirty="0"/>
            </a:br>
            <a:r>
              <a:rPr lang="fr-US" sz="2700" dirty="0"/>
              <a:t>(regression lineaire)</a:t>
            </a:r>
            <a:endParaRPr lang="fr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F8A5D4-395E-3203-5D4E-D1FEFF8264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29088" y="2514600"/>
            <a:ext cx="6951419" cy="2859985"/>
          </a:xfrm>
        </p:spPr>
        <p:txBody>
          <a:bodyPr/>
          <a:lstStyle/>
          <a:p>
            <a:r>
              <a:rPr lang="fr-FR" dirty="0"/>
              <a:t>R² train très élevé</a:t>
            </a:r>
          </a:p>
          <a:p>
            <a:r>
              <a:rPr lang="fr-FR" dirty="0"/>
              <a:t>R² test légèrement inférieur</a:t>
            </a:r>
          </a:p>
          <a:p>
            <a:pPr marL="0" indent="0">
              <a:buNone/>
            </a:pPr>
            <a:r>
              <a:rPr lang="fr-FR" dirty="0"/>
              <a:t>Mais</a:t>
            </a:r>
          </a:p>
          <a:p>
            <a:r>
              <a:rPr lang="fr-FR" dirty="0"/>
              <a:t>un RMSE de $ 144 248 sur le test.</a:t>
            </a:r>
          </a:p>
          <a:p>
            <a:pPr marL="0" indent="0">
              <a:buNone/>
            </a:pPr>
            <a:endParaRPr lang="fr-FR" dirty="0"/>
          </a:p>
          <a:p>
            <a:endParaRPr lang="fr-US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93648E44-F1DA-3EA6-A295-75FB8062AEF1}"/>
              </a:ext>
            </a:extLst>
          </p:cNvPr>
          <p:cNvSpPr txBox="1">
            <a:spLocks/>
          </p:cNvSpPr>
          <p:nvPr/>
        </p:nvSpPr>
        <p:spPr>
          <a:xfrm>
            <a:off x="511175" y="1669155"/>
            <a:ext cx="10744199" cy="1019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US" dirty="0"/>
              <a:t>Necessite de stratifier mes donnees d’entrainement et de test.  </a:t>
            </a:r>
          </a:p>
        </p:txBody>
      </p:sp>
      <p:pic>
        <p:nvPicPr>
          <p:cNvPr id="12" name="Image 11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D6C265C-C133-3971-9E86-FCB964382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3" y="2502589"/>
            <a:ext cx="3619500" cy="185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24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6DF1F9-A61A-C5A1-791C-33E5CEE2F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US" dirty="0"/>
              <a:t>MODELES TESTES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ED3613-B8B2-0C1F-39D7-1ACAC14D7E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fr-FR" dirty="0"/>
              <a:t>Modèles linéaires : </a:t>
            </a:r>
            <a:r>
              <a:rPr lang="fr-FR" dirty="0" err="1"/>
              <a:t>Linear</a:t>
            </a:r>
            <a:r>
              <a:rPr lang="fr-FR" dirty="0"/>
              <a:t> </a:t>
            </a:r>
            <a:r>
              <a:rPr lang="fr-FR" dirty="0" err="1"/>
              <a:t>Regression</a:t>
            </a:r>
            <a:r>
              <a:rPr lang="fr-FR" dirty="0"/>
              <a:t>, Ridge, Lasso</a:t>
            </a:r>
          </a:p>
          <a:p>
            <a:r>
              <a:rPr lang="fr-FR" dirty="0"/>
              <a:t>Modèles non linéaires : </a:t>
            </a:r>
            <a:r>
              <a:rPr lang="fr-FR" dirty="0" err="1"/>
              <a:t>Random</a:t>
            </a:r>
            <a:r>
              <a:rPr lang="fr-FR" dirty="0"/>
              <a:t> Forest, </a:t>
            </a:r>
            <a:r>
              <a:rPr lang="fr-FR" dirty="0" err="1"/>
              <a:t>XGBoost</a:t>
            </a:r>
            <a:endParaRPr lang="fr-FR" dirty="0"/>
          </a:p>
          <a:p>
            <a:r>
              <a:rPr lang="fr-FR" dirty="0"/>
              <a:t>Observations :</a:t>
            </a:r>
          </a:p>
          <a:p>
            <a:pPr lvl="1"/>
            <a:r>
              <a:rPr lang="fr-FR" dirty="0"/>
              <a:t>Relations majoritairement linéaires → modèles linéaires suffisent</a:t>
            </a:r>
          </a:p>
          <a:p>
            <a:pPr lvl="1"/>
            <a:r>
              <a:rPr lang="fr-FR" dirty="0" err="1"/>
              <a:t>Random</a:t>
            </a:r>
            <a:r>
              <a:rPr lang="fr-FR" dirty="0"/>
              <a:t> Forest / </a:t>
            </a:r>
            <a:r>
              <a:rPr lang="fr-FR" dirty="0" err="1"/>
              <a:t>XGBoost</a:t>
            </a:r>
            <a:r>
              <a:rPr lang="fr-FR" dirty="0"/>
              <a:t> pas adaptés pour ce </a:t>
            </a:r>
            <a:r>
              <a:rPr lang="fr-FR" dirty="0" err="1"/>
              <a:t>dataset</a:t>
            </a:r>
            <a:r>
              <a:rPr lang="fr-FR" dirty="0"/>
              <a:t> petit et linéaire</a:t>
            </a:r>
          </a:p>
          <a:p>
            <a:endParaRPr lang="fr-US" dirty="0"/>
          </a:p>
        </p:txBody>
      </p:sp>
    </p:spTree>
    <p:extLst>
      <p:ext uri="{BB962C8B-B14F-4D97-AF65-F5344CB8AC3E}">
        <p14:creationId xmlns:p14="http://schemas.microsoft.com/office/powerpoint/2010/main" val="3070958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3B4569-9C17-BAF6-B877-E6D74B9D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Optimisation Ridge &amp; Lasso</a:t>
            </a:r>
            <a:endParaRPr lang="fr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2D3528-2088-FF9E-92D0-B70E36500F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523017"/>
          </a:xfrm>
        </p:spPr>
        <p:txBody>
          <a:bodyPr>
            <a:normAutofit fontScale="55000" lnSpcReduction="20000"/>
          </a:bodyPr>
          <a:lstStyle/>
          <a:p>
            <a:r>
              <a:rPr lang="fr-FR" sz="2200" b="1" dirty="0"/>
              <a:t>Ridge </a:t>
            </a:r>
            <a:r>
              <a:rPr lang="fr-FR" sz="2200" b="1" dirty="0" err="1"/>
              <a:t>Regression</a:t>
            </a:r>
            <a:r>
              <a:rPr lang="fr-FR" sz="2200" b="1" dirty="0"/>
              <a:t> :</a:t>
            </a:r>
            <a:endParaRPr lang="fr-FR" sz="2200" dirty="0"/>
          </a:p>
          <a:p>
            <a:r>
              <a:rPr lang="fr-FR" sz="2200" dirty="0"/>
              <a:t>Recherche alpha via </a:t>
            </a:r>
            <a:r>
              <a:rPr lang="fr-FR" sz="2200" dirty="0" err="1"/>
              <a:t>GridSearchCV</a:t>
            </a:r>
            <a:r>
              <a:rPr lang="fr-FR" sz="2200" dirty="0"/>
              <a:t> → meilleur </a:t>
            </a:r>
            <a:r>
              <a:rPr lang="el-GR" sz="2200" dirty="0"/>
              <a:t>α = 0.04</a:t>
            </a:r>
          </a:p>
          <a:p>
            <a:r>
              <a:rPr lang="fr-FR" sz="2200" dirty="0"/>
              <a:t>Validation croisée 5 </a:t>
            </a:r>
            <a:r>
              <a:rPr lang="fr-FR" sz="2200" dirty="0" err="1"/>
              <a:t>folds</a:t>
            </a:r>
            <a:r>
              <a:rPr lang="fr-FR" sz="2200" dirty="0"/>
              <a:t> : R² moyen = 0.925</a:t>
            </a:r>
          </a:p>
          <a:p>
            <a:r>
              <a:rPr lang="fr-FR" sz="2200" dirty="0"/>
              <a:t>Test set : R² = 0.959, RMSE = 137 108</a:t>
            </a:r>
          </a:p>
          <a:p>
            <a:pPr marL="0" indent="0">
              <a:buNone/>
            </a:pPr>
            <a:r>
              <a:rPr lang="fr-FR" sz="2200" dirty="0">
                <a:sym typeface="Wingdings" pitchFamily="2" charset="2"/>
              </a:rPr>
              <a:t> </a:t>
            </a:r>
            <a:r>
              <a:rPr lang="fr-FR" sz="2200" dirty="0"/>
              <a:t>équilibre biais/variance excellent, stabilise légèrement les coefficients</a:t>
            </a:r>
          </a:p>
          <a:p>
            <a:endParaRPr lang="fr-FR" sz="2200" dirty="0"/>
          </a:p>
          <a:p>
            <a:r>
              <a:rPr lang="fr-FR" sz="2200" b="1" dirty="0"/>
              <a:t>Lasso </a:t>
            </a:r>
            <a:r>
              <a:rPr lang="fr-FR" sz="2200" b="1" dirty="0" err="1"/>
              <a:t>Regression</a:t>
            </a:r>
            <a:r>
              <a:rPr lang="fr-FR" sz="2200" b="1" dirty="0"/>
              <a:t> :</a:t>
            </a:r>
            <a:endParaRPr lang="fr-FR" sz="2200" dirty="0"/>
          </a:p>
          <a:p>
            <a:r>
              <a:rPr lang="fr-FR" sz="2200" dirty="0"/>
              <a:t>Recherche alpha via </a:t>
            </a:r>
            <a:r>
              <a:rPr lang="fr-FR" sz="2200" dirty="0" err="1"/>
              <a:t>GridSearchCV</a:t>
            </a:r>
            <a:r>
              <a:rPr lang="fr-FR" sz="2200" dirty="0"/>
              <a:t> → meilleur </a:t>
            </a:r>
            <a:r>
              <a:rPr lang="el-GR" sz="2200" dirty="0"/>
              <a:t>α = 800</a:t>
            </a:r>
          </a:p>
          <a:p>
            <a:r>
              <a:rPr lang="fr-FR" sz="2200" dirty="0"/>
              <a:t>Validation croisée 5 </a:t>
            </a:r>
            <a:r>
              <a:rPr lang="fr-FR" sz="2200" dirty="0" err="1"/>
              <a:t>folds</a:t>
            </a:r>
            <a:r>
              <a:rPr lang="fr-FR" sz="2200" dirty="0"/>
              <a:t> : R² moyen = 0.933</a:t>
            </a:r>
          </a:p>
          <a:p>
            <a:r>
              <a:rPr lang="fr-FR" sz="2200" dirty="0"/>
              <a:t>Test set : R² = 0.957, RMSE = 140 239</a:t>
            </a:r>
          </a:p>
          <a:p>
            <a:pPr marL="0" indent="0">
              <a:buNone/>
            </a:pPr>
            <a:r>
              <a:rPr lang="fr-FR" sz="2200" dirty="0">
                <a:sym typeface="Wingdings" pitchFamily="2" charset="2"/>
              </a:rPr>
              <a:t> </a:t>
            </a:r>
            <a:r>
              <a:rPr lang="fr-FR" sz="2200" dirty="0"/>
              <a:t>régularisation réduit la dépendance aux magasins, mais légère perte de précision</a:t>
            </a:r>
          </a:p>
        </p:txBody>
      </p:sp>
    </p:spTree>
    <p:extLst>
      <p:ext uri="{BB962C8B-B14F-4D97-AF65-F5344CB8AC3E}">
        <p14:creationId xmlns:p14="http://schemas.microsoft.com/office/powerpoint/2010/main" val="2302746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3D1BEC-0650-8436-473B-1065D2F7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US" dirty="0"/>
              <a:t>Resultats</a:t>
            </a:r>
          </a:p>
        </p:txBody>
      </p:sp>
      <p:pic>
        <p:nvPicPr>
          <p:cNvPr id="5" name="Espace réservé du contenu 4" descr="Une image contenant texte, Police, capture d’écran, noir&#10;&#10;Le contenu généré par l’IA peut être incorrect.">
            <a:extLst>
              <a:ext uri="{FF2B5EF4-FFF2-40B4-BE49-F238E27FC236}">
                <a16:creationId xmlns:a16="http://schemas.microsoft.com/office/drawing/2014/main" id="{46A755D6-787F-6278-36AD-C765CC64771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328911" y="1903411"/>
            <a:ext cx="9110662" cy="1525589"/>
          </a:xfr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B48B9001-4BA4-0937-6B42-604D22BE1AA0}"/>
              </a:ext>
            </a:extLst>
          </p:cNvPr>
          <p:cNvSpPr txBox="1">
            <a:spLocks/>
          </p:cNvSpPr>
          <p:nvPr/>
        </p:nvSpPr>
        <p:spPr>
          <a:xfrm>
            <a:off x="685800" y="3494646"/>
            <a:ext cx="10644187" cy="2277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Linear</a:t>
            </a:r>
            <a:r>
              <a:rPr lang="fr-FR" dirty="0"/>
              <a:t> </a:t>
            </a:r>
            <a:r>
              <a:rPr lang="fr-FR" dirty="0" err="1"/>
              <a:t>Regression</a:t>
            </a:r>
            <a:r>
              <a:rPr lang="fr-FR" dirty="0"/>
              <a:t> est très adapte ici, pas besoin de régularisation. Ridge pourrait être utilisé si on souhaite un modèle plus stable avec un petit risque de colinéarité, mais l’impact est faible.</a:t>
            </a:r>
          </a:p>
          <a:p>
            <a:r>
              <a:rPr lang="fr-FR" dirty="0"/>
              <a:t>Le RMSE sur le jeu de test est de $136 778, ce qui représente environ 11 % de la moyenne des ventes hebdomadaire. Le </a:t>
            </a:r>
            <a:r>
              <a:rPr lang="fr-FR" dirty="0" err="1"/>
              <a:t>modele</a:t>
            </a:r>
            <a:r>
              <a:rPr lang="fr-FR" dirty="0"/>
              <a:t> </a:t>
            </a:r>
            <a:r>
              <a:rPr lang="fr-FR" dirty="0" err="1"/>
              <a:t>predit</a:t>
            </a:r>
            <a:r>
              <a:rPr lang="fr-FR" dirty="0"/>
              <a:t> bien avec un niveau d’erreur modéré. </a:t>
            </a:r>
          </a:p>
        </p:txBody>
      </p:sp>
    </p:spTree>
    <p:extLst>
      <p:ext uri="{BB962C8B-B14F-4D97-AF65-F5344CB8AC3E}">
        <p14:creationId xmlns:p14="http://schemas.microsoft.com/office/powerpoint/2010/main" val="433450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7514D6-E55A-5CF3-F1E0-9D7A52EC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</a:t>
            </a:r>
            <a:r>
              <a:rPr lang="fr-US" dirty="0"/>
              <a:t>esultats et conclusion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814C3F7B-0698-25B2-EFA7-10A1297BF7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/>
              <a:t>Les ventes dépendent principalement du </a:t>
            </a:r>
            <a:r>
              <a:rPr lang="fr-FR" b="1" dirty="0"/>
              <a:t>magasin</a:t>
            </a:r>
            <a:r>
              <a:rPr lang="fr-FR" dirty="0"/>
              <a:t> et des </a:t>
            </a:r>
            <a:r>
              <a:rPr lang="fr-FR" b="1" dirty="0"/>
              <a:t>périodes de vacances</a:t>
            </a:r>
            <a:r>
              <a:rPr lang="fr-FR" dirty="0"/>
              <a:t>, avec un impact secondaire du </a:t>
            </a:r>
            <a:r>
              <a:rPr lang="fr-FR" b="1" dirty="0"/>
              <a:t>CPI</a:t>
            </a:r>
            <a:r>
              <a:rPr lang="fr-FR" dirty="0"/>
              <a:t> et du </a:t>
            </a:r>
            <a:r>
              <a:rPr lang="fr-FR" b="1" dirty="0"/>
              <a:t>taux de chômage</a:t>
            </a:r>
            <a:r>
              <a:rPr lang="fr-FR" dirty="0"/>
              <a:t>.</a:t>
            </a:r>
          </a:p>
          <a:p>
            <a:pPr>
              <a:buNone/>
            </a:pPr>
            <a:r>
              <a:rPr lang="fr-FR" b="1" dirty="0"/>
              <a:t>Saisonnalité identifiée</a:t>
            </a:r>
            <a:r>
              <a:rPr lang="fr-FR" dirty="0"/>
              <a:t> : pics en </a:t>
            </a:r>
            <a:r>
              <a:rPr lang="fr-FR" b="1" dirty="0"/>
              <a:t>novembre et mai</a:t>
            </a:r>
            <a:r>
              <a:rPr lang="fr-FR" dirty="0"/>
              <a:t>, creux en </a:t>
            </a:r>
            <a:r>
              <a:rPr lang="fr-FR" b="1" dirty="0"/>
              <a:t>janvier et septembre</a:t>
            </a:r>
            <a:r>
              <a:rPr lang="fr-FR" dirty="0"/>
              <a:t>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Perspectives</a:t>
            </a:r>
            <a:r>
              <a:rPr lang="fr-FR" dirty="0"/>
              <a:t> : enrichir les données et inclure de nouvelles variables (</a:t>
            </a:r>
            <a:r>
              <a:rPr lang="fr-FR" b="1" dirty="0"/>
              <a:t>promotions, événements locaux, météo fine</a:t>
            </a:r>
            <a:r>
              <a:rPr lang="fr-FR" dirty="0"/>
              <a:t>) pour améliorer les prédictions et la planification opérationnelle.</a:t>
            </a:r>
          </a:p>
          <a:p>
            <a:endParaRPr lang="fr-US" dirty="0"/>
          </a:p>
        </p:txBody>
      </p:sp>
    </p:spTree>
    <p:extLst>
      <p:ext uri="{BB962C8B-B14F-4D97-AF65-F5344CB8AC3E}">
        <p14:creationId xmlns:p14="http://schemas.microsoft.com/office/powerpoint/2010/main" val="2605071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and événem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Grand événement</Template>
  <TotalTime>147084</TotalTime>
  <Words>641</Words>
  <Application>Microsoft Macintosh PowerPoint</Application>
  <PresentationFormat>Grand écran</PresentationFormat>
  <Paragraphs>66</Paragraphs>
  <Slides>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Aptos</vt:lpstr>
      <vt:lpstr>Arial</vt:lpstr>
      <vt:lpstr>Impact</vt:lpstr>
      <vt:lpstr>Wingdings</vt:lpstr>
      <vt:lpstr>Grand événement</vt:lpstr>
      <vt:lpstr>Prediction des ventes chez walmart</vt:lpstr>
      <vt:lpstr>Objectif et dataset</vt:lpstr>
      <vt:lpstr>Exploration</vt:lpstr>
      <vt:lpstr>Importance des variables</vt:lpstr>
      <vt:lpstr>Premieres Performances  (regression lineaire)</vt:lpstr>
      <vt:lpstr>MODELES TESTES</vt:lpstr>
      <vt:lpstr>Optimisation Ridge &amp; Lasso</vt:lpstr>
      <vt:lpstr>Resultats</vt:lpstr>
      <vt:lpstr>Resultats et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arnold combey</dc:creator>
  <cp:lastModifiedBy>arnold combey</cp:lastModifiedBy>
  <cp:revision>3</cp:revision>
  <dcterms:created xsi:type="dcterms:W3CDTF">2025-09-15T17:18:37Z</dcterms:created>
  <dcterms:modified xsi:type="dcterms:W3CDTF">2025-12-26T20:43:34Z</dcterms:modified>
</cp:coreProperties>
</file>